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Lora"/>
      <p:regular r:id="rId14"/>
    </p:embeddedFont>
    <p:embeddedFont>
      <p:font typeface="Lora"/>
      <p:regular r:id="rId15"/>
    </p:embeddedFont>
    <p:embeddedFont>
      <p:font typeface="Lora"/>
      <p:regular r:id="rId16"/>
    </p:embeddedFont>
    <p:embeddedFont>
      <p:font typeface="Lora"/>
      <p:regular r:id="rId17"/>
    </p:embeddedFont>
    <p:embeddedFont>
      <p:font typeface="Source Sans 3"/>
      <p:regular r:id="rId18"/>
    </p:embeddedFont>
    <p:embeddedFont>
      <p:font typeface="Source Sans 3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Transforming YouTube Data into Actionable Insights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comprehensive journey from raw YouTube data to an interactive Power BI dashboard delivering strategic business intelligence.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308" y="1393746"/>
            <a:ext cx="12071747" cy="633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Foundation: Data Cleaning and Transformation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53308" y="3545443"/>
            <a:ext cx="152221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808208" y="2491264"/>
            <a:ext cx="1107638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YouTube data presents unique challenges that require systematic preparation before meaningful analysis can occur.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808208" y="3011805"/>
            <a:ext cx="308062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Challenges Addressed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808208" y="3521750"/>
            <a:ext cx="11076384" cy="151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Handling missing values and duplicates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Standardizing inconsistent formats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Merging multiple data sources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Optimizing data types for performance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53308" y="5318760"/>
            <a:ext cx="4245531" cy="1516975"/>
          </a:xfrm>
          <a:prstGeom prst="roundRect">
            <a:avLst>
              <a:gd name="adj" fmla="val 2129"/>
            </a:avLst>
          </a:prstGeom>
          <a:solidFill>
            <a:srgbClr val="444752"/>
          </a:solidFill>
          <a:ln/>
        </p:spPr>
      </p:sp>
      <p:sp>
        <p:nvSpPr>
          <p:cNvPr id="8" name="Text 6"/>
          <p:cNvSpPr/>
          <p:nvPr/>
        </p:nvSpPr>
        <p:spPr>
          <a:xfrm>
            <a:off x="968454" y="5533906"/>
            <a:ext cx="253245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Query Editor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8454" y="5966460"/>
            <a:ext cx="3815239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Meticulously cleaned and transformed the dataset using intuitive, repeatable steps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92316" y="5318760"/>
            <a:ext cx="4245650" cy="1516975"/>
          </a:xfrm>
          <a:prstGeom prst="roundRect">
            <a:avLst>
              <a:gd name="adj" fmla="val 2129"/>
            </a:avLst>
          </a:prstGeom>
          <a:solidFill>
            <a:srgbClr val="444752"/>
          </a:solidFill>
          <a:ln/>
        </p:spPr>
      </p:sp>
      <p:sp>
        <p:nvSpPr>
          <p:cNvPr id="11" name="Text 9"/>
          <p:cNvSpPr/>
          <p:nvPr/>
        </p:nvSpPr>
        <p:spPr>
          <a:xfrm>
            <a:off x="5407462" y="5533906"/>
            <a:ext cx="253245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Unified View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07462" y="5966460"/>
            <a:ext cx="3815358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a single, reliable source of truth by merging all YouTube analytics sources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31442" y="5318760"/>
            <a:ext cx="4245531" cy="1516975"/>
          </a:xfrm>
          <a:prstGeom prst="roundRect">
            <a:avLst>
              <a:gd name="adj" fmla="val 2129"/>
            </a:avLst>
          </a:prstGeom>
          <a:solidFill>
            <a:srgbClr val="444752"/>
          </a:solidFill>
          <a:ln/>
        </p:spPr>
      </p:sp>
      <p:sp>
        <p:nvSpPr>
          <p:cNvPr id="14" name="Text 12"/>
          <p:cNvSpPr/>
          <p:nvPr/>
        </p:nvSpPr>
        <p:spPr>
          <a:xfrm>
            <a:off x="9846588" y="5533906"/>
            <a:ext cx="253245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Ready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46588" y="5966460"/>
            <a:ext cx="3815239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data types and structures for efficient downstream analysis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0802" y="1290399"/>
            <a:ext cx="10508575" cy="51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the Engine: DAX Measures for Deeper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50802" y="2057519"/>
            <a:ext cx="11328797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DAX calculations unlock critical YouTube analytics, transforming raw numbers into strategic business intelligence.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0802" y="2441734"/>
            <a:ext cx="436007" cy="4360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0802" y="3036570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Engagement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50802" y="3369350"/>
            <a:ext cx="5584984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Views, likes, comments, and shares tracked across all content with trend analysis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4615" y="2441734"/>
            <a:ext cx="436007" cy="4360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94615" y="3036570"/>
            <a:ext cx="228683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 Growth Rate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94615" y="3369350"/>
            <a:ext cx="5584984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Calculates momentum in audience expansion with period-over-period comparisons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0802" y="4105989"/>
            <a:ext cx="436007" cy="4360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50802" y="4700826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Watch Time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650802" y="5033605"/>
            <a:ext cx="5584984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Measures viewer retention per video, identifying content that keeps audiences engaged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4615" y="4105989"/>
            <a:ext cx="436007" cy="4360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94615" y="4700826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Engagement Rate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394615" y="5033605"/>
            <a:ext cx="5584984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(Likes + Comments) / Views formula reveals which content resonates most with viewers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50802" y="5770245"/>
            <a:ext cx="436007" cy="43600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50802" y="6365081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Click-Through Rate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650802" y="6697861"/>
            <a:ext cx="5584984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Thumbnail effectiveness measured by views relative to impressions shown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94615" y="5770245"/>
            <a:ext cx="436007" cy="43600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94615" y="6365081"/>
            <a:ext cx="246423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Benchmarks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7394615" y="6697861"/>
            <a:ext cx="5584984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Establishes baseline metrics for ongoing optimization and goal tracking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346" y="1022509"/>
            <a:ext cx="7718108" cy="119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Visualizing Success: The Customer-Centric Dashboard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99346" y="2480786"/>
            <a:ext cx="7718108" cy="1459825"/>
          </a:xfrm>
          <a:prstGeom prst="roundRect">
            <a:avLst>
              <a:gd name="adj" fmla="val 7517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486" y="2480786"/>
            <a:ext cx="91440" cy="14598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94502" y="2707362"/>
            <a:ext cx="305073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Intuitive Design Philosophy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494502" y="3110865"/>
            <a:ext cx="7196376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Tailored interface prioritizing clarity and ease of use for stakeholders at all technical levels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199346" y="4113967"/>
            <a:ext cx="7718108" cy="1459825"/>
          </a:xfrm>
          <a:prstGeom prst="roundRect">
            <a:avLst>
              <a:gd name="adj" fmla="val 7517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86" y="4113967"/>
            <a:ext cx="91440" cy="14598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94502" y="4340543"/>
            <a:ext cx="239672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Filtering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494502" y="4744045"/>
            <a:ext cx="7196376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slicers enable real-time exploration by date ranges, video categories, and performance tiers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199346" y="5747147"/>
            <a:ext cx="7718108" cy="1459825"/>
          </a:xfrm>
          <a:prstGeom prst="roundRect">
            <a:avLst>
              <a:gd name="adj" fmla="val 7517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486" y="5747147"/>
            <a:ext cx="91440" cy="14598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94502" y="5973723"/>
            <a:ext cx="2490192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Visualization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494502" y="6377226"/>
            <a:ext cx="7196376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Color-coded charts and trend lines reveal patterns at a glance, accelerating decision-making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213" y="934879"/>
            <a:ext cx="5271016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at a Glance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50213" y="1853208"/>
            <a:ext cx="482322" cy="482322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424464" y="1926788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Top-Level Cards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24464" y="2357080"/>
            <a:ext cx="6969323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total views, subscriber count, and revenue metrics in glanceable format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50213" y="3390781"/>
            <a:ext cx="482322" cy="482322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1424464" y="3464362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Trend Visualizations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24464" y="3894653"/>
            <a:ext cx="696932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 and area charts reveal subscriber growth and view patterns over time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0213" y="4603433"/>
            <a:ext cx="482322" cy="482322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1424464" y="4677013"/>
            <a:ext cx="3009900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Breakdowns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424464" y="5107305"/>
            <a:ext cx="6969323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 charts rank top-performing videos and analyze content category effectiveness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50213" y="6141006"/>
            <a:ext cx="482322" cy="482322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1424464" y="6214586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Audience Insights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424464" y="6644878"/>
            <a:ext cx="6969323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 pie charts reveal geographic and demographic composition of viewership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1150" y="580787"/>
            <a:ext cx="5185172" cy="519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 and Key Takeaways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0" y="1441966"/>
            <a:ext cx="3733800" cy="2100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3338" y="2058233"/>
            <a:ext cx="2523530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Transformative Outcomes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53338" y="2448163"/>
            <a:ext cx="7303413" cy="490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dashboard delivers immediate value by converting raw YouTube data into strategic intelligence.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581150" y="3835122"/>
            <a:ext cx="5668923" cy="1841659"/>
          </a:xfrm>
          <a:prstGeom prst="roundRect">
            <a:avLst>
              <a:gd name="adj" fmla="val 1438"/>
            </a:avLst>
          </a:prstGeom>
          <a:solidFill>
            <a:srgbClr val="44475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720" y="4011692"/>
            <a:ext cx="529709" cy="52970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3333" y="4157305"/>
            <a:ext cx="238363" cy="2383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57720" y="4671655"/>
            <a:ext cx="2077522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757720" y="5009436"/>
            <a:ext cx="5315783" cy="490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visibility into channel performance enables data-driven content strategy decisions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7380327" y="3835122"/>
            <a:ext cx="5668923" cy="1841659"/>
          </a:xfrm>
          <a:prstGeom prst="roundRect">
            <a:avLst>
              <a:gd name="adj" fmla="val 1438"/>
            </a:avLst>
          </a:prstGeom>
          <a:solidFill>
            <a:srgbClr val="44475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897" y="4011692"/>
            <a:ext cx="529709" cy="529709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2510" y="4157305"/>
            <a:ext cx="238363" cy="2383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56897" y="4671655"/>
            <a:ext cx="2162889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7556897" y="5009436"/>
            <a:ext cx="5315783" cy="490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Streamlined reporting saves hours of manual work while ensuring consistency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1581150" y="5807035"/>
            <a:ext cx="5668923" cy="1841659"/>
          </a:xfrm>
          <a:prstGeom prst="roundRect">
            <a:avLst>
              <a:gd name="adj" fmla="val 1438"/>
            </a:avLst>
          </a:prstGeom>
          <a:solidFill>
            <a:srgbClr val="444752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7720" y="5983605"/>
            <a:ext cx="529709" cy="529709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3333" y="6129218"/>
            <a:ext cx="238363" cy="23836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757720" y="6643568"/>
            <a:ext cx="2141101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757720" y="6981349"/>
            <a:ext cx="5315783" cy="490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Exceeded expectations with professional, intuitive solution delivering immediate value</a:t>
            </a:r>
            <a:endParaRPr lang="en-US" sz="1350" dirty="0"/>
          </a:p>
        </p:txBody>
      </p:sp>
      <p:sp>
        <p:nvSpPr>
          <p:cNvPr id="21" name="Shape 12"/>
          <p:cNvSpPr/>
          <p:nvPr/>
        </p:nvSpPr>
        <p:spPr>
          <a:xfrm>
            <a:off x="7380327" y="5807035"/>
            <a:ext cx="5668923" cy="1841659"/>
          </a:xfrm>
          <a:prstGeom prst="roundRect">
            <a:avLst>
              <a:gd name="adj" fmla="val 1438"/>
            </a:avLst>
          </a:prstGeom>
          <a:solidFill>
            <a:srgbClr val="444752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897" y="5983605"/>
            <a:ext cx="529709" cy="529709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2510" y="6129218"/>
            <a:ext cx="238363" cy="23836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556897" y="6643568"/>
            <a:ext cx="2077522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Foundation</a:t>
            </a:r>
            <a:endParaRPr lang="en-US" sz="1600" dirty="0"/>
          </a:p>
        </p:txBody>
      </p:sp>
      <p:sp>
        <p:nvSpPr>
          <p:cNvPr id="25" name="Text 14"/>
          <p:cNvSpPr/>
          <p:nvPr/>
        </p:nvSpPr>
        <p:spPr>
          <a:xfrm>
            <a:off x="7556897" y="6981349"/>
            <a:ext cx="5315783" cy="490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Establishes framework for ongoing performance monitoring and continuous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44034"/>
            <a:ext cx="7468553" cy="140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50"/>
              </a:lnSpc>
              <a:buNone/>
            </a:pPr>
            <a:r>
              <a:rPr lang="en-US" sz="8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8850" dirty="0"/>
          </a:p>
        </p:txBody>
      </p:sp>
      <p:sp>
        <p:nvSpPr>
          <p:cNvPr id="4" name="Text 1"/>
          <p:cNvSpPr/>
          <p:nvPr/>
        </p:nvSpPr>
        <p:spPr>
          <a:xfrm>
            <a:off x="837724" y="2611041"/>
            <a:ext cx="571726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Ready for Strategic Growth</a:t>
            </a:r>
            <a:endParaRPr lang="en-US" sz="3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3909655"/>
            <a:ext cx="3614618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7724" y="409027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37724" y="4585811"/>
            <a:ext cx="36146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Let's discuss your specific YouTube analytics challenges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658" y="3909655"/>
            <a:ext cx="3614618" cy="30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91658" y="409027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4691658" y="4585811"/>
            <a:ext cx="36146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Explore how this dashboard can drive your content strategy forward</a:t>
            </a:r>
            <a:endParaRPr lang="en-US" sz="1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6123027"/>
            <a:ext cx="7468553" cy="30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7724" y="63275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Connect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837724" y="682311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[Your Name/Company] | [Your Email] | [LinkedIn Profile]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2026-03-25T13:31:22Z</dcterms:created>
  <dcterms:modified xsi:type="dcterms:W3CDTF">2026-03-25T13:31:22Z</dcterms:modified>
</cp:coreProperties>
</file>